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  <p:sldId id="271" r:id="rId12"/>
    <p:sldId id="272" r:id="rId13"/>
    <p:sldId id="273" r:id="rId14"/>
    <p:sldId id="274" r:id="rId15"/>
    <p:sldId id="277" r:id="rId16"/>
    <p:sldId id="275" r:id="rId17"/>
    <p:sldId id="276" r:id="rId18"/>
  </p:sldIdLst>
  <p:sldSz cx="9144000" cy="5143500" type="screen16x9"/>
  <p:notesSz cx="6858000" cy="9144000"/>
  <p:embeddedFontLst>
    <p:embeddedFont>
      <p:font typeface="Anaheim" pitchFamily="2" charset="77"/>
      <p:regular r:id="rId20"/>
      <p:bold r:id="rId21"/>
    </p:embeddedFont>
    <p:embeddedFont>
      <p:font typeface="Blinker" panose="02000000000000000000" pitchFamily="2" charset="0"/>
      <p:regular r:id="rId22"/>
      <p:bold r:id="rId23"/>
    </p:embeddedFont>
    <p:embeddedFont>
      <p:font typeface="Raleway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884022-E725-4D50-85D0-C1A6C8E3E437}">
  <a:tblStyle styleId="{D3884022-E725-4D50-85D0-C1A6C8E3E4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540AA98-C194-4847-8CE5-F4F0668BA4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71"/>
  </p:normalViewPr>
  <p:slideViewPr>
    <p:cSldViewPr snapToGrid="0">
      <p:cViewPr varScale="1">
        <p:scale>
          <a:sx n="139" d="100"/>
          <a:sy n="139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80100" y="2289700"/>
            <a:ext cx="65838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Blinker"/>
                <a:ea typeface="Blinker"/>
                <a:cs typeface="Blinker"/>
                <a:sym typeface="Blink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07675" y="39355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271750" y="212400"/>
            <a:ext cx="8577900" cy="4718700"/>
          </a:xfrm>
          <a:prstGeom prst="roundRect">
            <a:avLst>
              <a:gd name="adj" fmla="val 40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1148900" y="1341783"/>
            <a:ext cx="734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1148900" y="3003791"/>
            <a:ext cx="734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 hasCustomPrompt="1"/>
          </p:nvPr>
        </p:nvSpPr>
        <p:spPr>
          <a:xfrm>
            <a:off x="1142125" y="1875183"/>
            <a:ext cx="734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1142125" y="3537191"/>
            <a:ext cx="734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1142125" y="2408583"/>
            <a:ext cx="734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1142125" y="4070591"/>
            <a:ext cx="734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883600" y="1341775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1876825" y="1875175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9"/>
          </p:nvPr>
        </p:nvSpPr>
        <p:spPr>
          <a:xfrm>
            <a:off x="1876825" y="2408575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3"/>
          </p:nvPr>
        </p:nvSpPr>
        <p:spPr>
          <a:xfrm>
            <a:off x="1883600" y="3003800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4"/>
          </p:nvPr>
        </p:nvSpPr>
        <p:spPr>
          <a:xfrm>
            <a:off x="1876825" y="3537200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5"/>
          </p:nvPr>
        </p:nvSpPr>
        <p:spPr>
          <a:xfrm>
            <a:off x="1876825" y="4070600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1"/>
          </p:nvPr>
        </p:nvSpPr>
        <p:spPr>
          <a:xfrm>
            <a:off x="902878" y="1861325"/>
            <a:ext cx="34845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2"/>
          </p:nvPr>
        </p:nvSpPr>
        <p:spPr>
          <a:xfrm>
            <a:off x="4893720" y="1861325"/>
            <a:ext cx="34845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3"/>
          </p:nvPr>
        </p:nvSpPr>
        <p:spPr>
          <a:xfrm>
            <a:off x="902878" y="3521900"/>
            <a:ext cx="34845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4"/>
          </p:nvPr>
        </p:nvSpPr>
        <p:spPr>
          <a:xfrm>
            <a:off x="4893720" y="3521900"/>
            <a:ext cx="34845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5"/>
          </p:nvPr>
        </p:nvSpPr>
        <p:spPr>
          <a:xfrm>
            <a:off x="902879" y="1482475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6"/>
          </p:nvPr>
        </p:nvSpPr>
        <p:spPr>
          <a:xfrm>
            <a:off x="902879" y="3143175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7"/>
          </p:nvPr>
        </p:nvSpPr>
        <p:spPr>
          <a:xfrm>
            <a:off x="4893691" y="1482475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8"/>
          </p:nvPr>
        </p:nvSpPr>
        <p:spPr>
          <a:xfrm>
            <a:off x="4893691" y="3143175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59" r:id="rId6"/>
    <p:sldLayoutId id="2147483663" r:id="rId7"/>
    <p:sldLayoutId id="214748366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hr.airbnb.com/help/article/2503" TargetMode="External"/><Relationship Id="rId3" Type="http://schemas.openxmlformats.org/officeDocument/2006/relationships/hyperlink" Target="https://www.aboutamazon.com/about-us" TargetMode="External"/><Relationship Id="rId7" Type="http://schemas.openxmlformats.org/officeDocument/2006/relationships/hyperlink" Target="https://newsroom.spotify.com/company-info/" TargetMode="External"/><Relationship Id="rId2" Type="http://schemas.openxmlformats.org/officeDocument/2006/relationships/hyperlink" Target="https://www.aboutamazon.com/what-we-do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nfobip.com/" TargetMode="External"/><Relationship Id="rId5" Type="http://schemas.openxmlformats.org/officeDocument/2006/relationships/hyperlink" Target="https://www.rimac-automobili.com/about-us/" TargetMode="External"/><Relationship Id="rId4" Type="http://schemas.openxmlformats.org/officeDocument/2006/relationships/hyperlink" Target="https://photomath.com/articles/photomath-101-get-math-with-photomath/" TargetMode="External"/><Relationship Id="rId9" Type="http://schemas.openxmlformats.org/officeDocument/2006/relationships/hyperlink" Target="https://www.researchgate.net/figure/Differences-Between-Traditional-and-Digital-Entrepreneurship_tbl1_342422897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999" y="58525"/>
            <a:ext cx="3860152" cy="213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ctrTitle"/>
          </p:nvPr>
        </p:nvSpPr>
        <p:spPr>
          <a:xfrm>
            <a:off x="1280100" y="2289700"/>
            <a:ext cx="65838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err="1"/>
              <a:t>Digitalno</a:t>
            </a:r>
            <a:r>
              <a:rPr lang="en-US" dirty="0"/>
              <a:t> </a:t>
            </a:r>
            <a:r>
              <a:rPr lang="en-US" dirty="0" err="1"/>
              <a:t>poduzetništvo</a:t>
            </a:r>
            <a:r>
              <a:rPr lang="en-US" dirty="0"/>
              <a:t>: </a:t>
            </a:r>
            <a:r>
              <a:rPr lang="en-US" dirty="0" err="1"/>
              <a:t>pojam</a:t>
            </a:r>
            <a:r>
              <a:rPr lang="en-US" dirty="0"/>
              <a:t>, </a:t>
            </a:r>
            <a:r>
              <a:rPr lang="en-US" dirty="0" err="1"/>
              <a:t>specifičnosti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primjeri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Hrvatske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svijeta</a:t>
            </a:r>
            <a:endParaRPr dirty="0"/>
          </a:p>
        </p:txBody>
      </p:sp>
      <p:sp>
        <p:nvSpPr>
          <p:cNvPr id="138" name="Google Shape;138;p25"/>
          <p:cNvSpPr txBox="1">
            <a:spLocks noGrp="1"/>
          </p:cNvSpPr>
          <p:nvPr>
            <p:ph type="subTitle" idx="1"/>
          </p:nvPr>
        </p:nvSpPr>
        <p:spPr>
          <a:xfrm>
            <a:off x="2307675" y="39355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Lucijan Raspović, IPS-ADPS</a:t>
            </a:r>
            <a:br>
              <a:rPr lang="en" dirty="0"/>
            </a:br>
            <a:r>
              <a:rPr lang="en" dirty="0" err="1"/>
              <a:t>Mentorica</a:t>
            </a:r>
            <a:r>
              <a:rPr lang="en" dirty="0"/>
              <a:t>: Doc. dr. sc. Tamara </a:t>
            </a:r>
            <a:r>
              <a:rPr lang="en" dirty="0" err="1"/>
              <a:t>Šmaguc</a:t>
            </a: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 </a:t>
            </a:r>
            <a:r>
              <a:rPr lang="en" dirty="0" err="1"/>
              <a:t>Varaždinu</a:t>
            </a:r>
            <a:r>
              <a:rPr lang="en" dirty="0"/>
              <a:t>, </a:t>
            </a:r>
            <a:r>
              <a:rPr lang="en" dirty="0" err="1"/>
              <a:t>prosinac</a:t>
            </a:r>
            <a:r>
              <a:rPr lang="en" dirty="0"/>
              <a:t> 2025.</a:t>
            </a:r>
            <a:endParaRPr dirty="0"/>
          </a:p>
        </p:txBody>
      </p:sp>
      <p:pic>
        <p:nvPicPr>
          <p:cNvPr id="1026" name="Picture 2" descr="Vizualni identitet | FOI">
            <a:extLst>
              <a:ext uri="{FF2B5EF4-FFF2-40B4-BE49-F238E27FC236}">
                <a16:creationId xmlns:a16="http://schemas.microsoft.com/office/drawing/2014/main" id="{4A862289-0031-DCB3-6A80-B9406AFE3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88" y="246888"/>
            <a:ext cx="1228954" cy="76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subTitle" idx="1"/>
          </p:nvPr>
        </p:nvSpPr>
        <p:spPr>
          <a:xfrm>
            <a:off x="1883600" y="1341775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Pojam</a:t>
            </a:r>
            <a:r>
              <a:rPr lang="en" dirty="0"/>
              <a:t> </a:t>
            </a:r>
            <a:r>
              <a:rPr lang="en" dirty="0" err="1"/>
              <a:t>digitalnog</a:t>
            </a:r>
            <a:r>
              <a:rPr lang="en" dirty="0"/>
              <a:t> </a:t>
            </a:r>
            <a:r>
              <a:rPr lang="en" dirty="0" err="1"/>
              <a:t>poduzetništva</a:t>
            </a:r>
            <a:endParaRPr dirty="0"/>
          </a:p>
        </p:txBody>
      </p:sp>
      <p:sp>
        <p:nvSpPr>
          <p:cNvPr id="154" name="Google Shape;154;p27"/>
          <p:cNvSpPr txBox="1">
            <a:spLocks noGrp="1"/>
          </p:cNvSpPr>
          <p:nvPr>
            <p:ph type="subTitle" idx="13"/>
          </p:nvPr>
        </p:nvSpPr>
        <p:spPr>
          <a:xfrm>
            <a:off x="1883600" y="3003800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Primjeri</a:t>
            </a:r>
            <a:r>
              <a:rPr lang="en" dirty="0"/>
              <a:t> </a:t>
            </a:r>
            <a:r>
              <a:rPr lang="en" dirty="0" err="1"/>
              <a:t>iz</a:t>
            </a:r>
            <a:r>
              <a:rPr lang="en" dirty="0"/>
              <a:t> </a:t>
            </a:r>
            <a:r>
              <a:rPr lang="en" dirty="0" err="1"/>
              <a:t>Hrvatske</a:t>
            </a:r>
            <a:endParaRPr dirty="0"/>
          </a:p>
        </p:txBody>
      </p:sp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Sadržaj</a:t>
            </a:r>
            <a:endParaRPr dirty="0"/>
          </a:p>
        </p:txBody>
      </p:sp>
      <p:sp>
        <p:nvSpPr>
          <p:cNvPr id="156" name="Google Shape;156;p27"/>
          <p:cNvSpPr txBox="1">
            <a:spLocks noGrp="1"/>
          </p:cNvSpPr>
          <p:nvPr>
            <p:ph type="title" idx="2"/>
          </p:nvPr>
        </p:nvSpPr>
        <p:spPr>
          <a:xfrm>
            <a:off x="1148900" y="1341783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title" idx="3"/>
          </p:nvPr>
        </p:nvSpPr>
        <p:spPr>
          <a:xfrm>
            <a:off x="1148900" y="3003791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title" idx="4"/>
          </p:nvPr>
        </p:nvSpPr>
        <p:spPr>
          <a:xfrm>
            <a:off x="1142125" y="1875183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title" idx="5"/>
          </p:nvPr>
        </p:nvSpPr>
        <p:spPr>
          <a:xfrm>
            <a:off x="1142125" y="3537191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title" idx="6"/>
          </p:nvPr>
        </p:nvSpPr>
        <p:spPr>
          <a:xfrm>
            <a:off x="1142125" y="2408583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title" idx="7"/>
          </p:nvPr>
        </p:nvSpPr>
        <p:spPr>
          <a:xfrm>
            <a:off x="1142125" y="4070591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subTitle" idx="8"/>
          </p:nvPr>
        </p:nvSpPr>
        <p:spPr>
          <a:xfrm>
            <a:off x="1876825" y="1875175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Razlike</a:t>
            </a:r>
            <a:endParaRPr dirty="0"/>
          </a:p>
        </p:txBody>
      </p:sp>
      <p:sp>
        <p:nvSpPr>
          <p:cNvPr id="163" name="Google Shape;163;p27"/>
          <p:cNvSpPr txBox="1">
            <a:spLocks noGrp="1"/>
          </p:cNvSpPr>
          <p:nvPr>
            <p:ph type="subTitle" idx="9"/>
          </p:nvPr>
        </p:nvSpPr>
        <p:spPr>
          <a:xfrm>
            <a:off x="1876825" y="2408575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Karakteristike digitalnog poduzetnika</a:t>
            </a:r>
            <a:endParaRPr dirty="0"/>
          </a:p>
        </p:txBody>
      </p:sp>
      <p:sp>
        <p:nvSpPr>
          <p:cNvPr id="164" name="Google Shape;164;p27"/>
          <p:cNvSpPr txBox="1">
            <a:spLocks noGrp="1"/>
          </p:cNvSpPr>
          <p:nvPr>
            <p:ph type="subTitle" idx="14"/>
          </p:nvPr>
        </p:nvSpPr>
        <p:spPr>
          <a:xfrm>
            <a:off x="1876825" y="3537200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Primjeri</a:t>
            </a:r>
            <a:r>
              <a:rPr lang="en" dirty="0"/>
              <a:t> </a:t>
            </a:r>
            <a:r>
              <a:rPr lang="en" dirty="0" err="1"/>
              <a:t>iz</a:t>
            </a:r>
            <a:r>
              <a:rPr lang="en" dirty="0"/>
              <a:t> </a:t>
            </a:r>
            <a:r>
              <a:rPr lang="en" dirty="0" err="1"/>
              <a:t>svijeta</a:t>
            </a:r>
            <a:endParaRPr dirty="0"/>
          </a:p>
        </p:txBody>
      </p:sp>
      <p:sp>
        <p:nvSpPr>
          <p:cNvPr id="165" name="Google Shape;165;p27"/>
          <p:cNvSpPr txBox="1">
            <a:spLocks noGrp="1"/>
          </p:cNvSpPr>
          <p:nvPr>
            <p:ph type="subTitle" idx="15"/>
          </p:nvPr>
        </p:nvSpPr>
        <p:spPr>
          <a:xfrm>
            <a:off x="1876825" y="4070600"/>
            <a:ext cx="253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Čimbenici</a:t>
            </a:r>
            <a:r>
              <a:rPr lang="en" dirty="0"/>
              <a:t> </a:t>
            </a:r>
            <a:r>
              <a:rPr lang="en" dirty="0" err="1"/>
              <a:t>uspjeha</a:t>
            </a:r>
            <a:endParaRPr dirty="0"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385" y="1722781"/>
            <a:ext cx="348418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7767" y="1106961"/>
            <a:ext cx="1457071" cy="14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4678534" y="1966100"/>
            <a:ext cx="997458" cy="140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0978" y="3311950"/>
            <a:ext cx="922020" cy="91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>
            <a:spLocks noGrp="1"/>
          </p:cNvSpPr>
          <p:nvPr>
            <p:ph type="subTitle" idx="6"/>
          </p:nvPr>
        </p:nvSpPr>
        <p:spPr>
          <a:xfrm>
            <a:off x="902878" y="3375240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Stvaranje</a:t>
            </a:r>
            <a:r>
              <a:rPr lang="en-US" sz="1600" dirty="0"/>
              <a:t> </a:t>
            </a:r>
            <a:r>
              <a:rPr lang="en-US" sz="1600" dirty="0" err="1"/>
              <a:t>novih</a:t>
            </a:r>
            <a:r>
              <a:rPr lang="en-US" sz="1600" dirty="0"/>
              <a:t>, </a:t>
            </a:r>
            <a:r>
              <a:rPr lang="en-US" sz="1600" dirty="0" err="1"/>
              <a:t>inovativnih</a:t>
            </a:r>
            <a:r>
              <a:rPr lang="en-US" sz="1600" dirty="0"/>
              <a:t> </a:t>
            </a:r>
            <a:r>
              <a:rPr lang="en-US" sz="1600" dirty="0" err="1"/>
              <a:t>poslovnih</a:t>
            </a:r>
            <a:r>
              <a:rPr lang="en-US" sz="1600" dirty="0"/>
              <a:t> </a:t>
            </a:r>
            <a:r>
              <a:rPr lang="en-US" sz="1600" dirty="0" err="1"/>
              <a:t>modela</a:t>
            </a:r>
            <a:endParaRPr lang="en-US" sz="1600" dirty="0"/>
          </a:p>
        </p:txBody>
      </p:sp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Pojam</a:t>
            </a:r>
            <a:r>
              <a:rPr lang="en" dirty="0"/>
              <a:t> </a:t>
            </a:r>
            <a:r>
              <a:rPr lang="en" dirty="0" err="1"/>
              <a:t>digitalnog</a:t>
            </a:r>
            <a:r>
              <a:rPr lang="en" dirty="0"/>
              <a:t> </a:t>
            </a:r>
            <a:r>
              <a:rPr lang="en" dirty="0" err="1"/>
              <a:t>poduzetništva</a:t>
            </a:r>
            <a:endParaRPr dirty="0"/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5"/>
          </p:nvPr>
        </p:nvSpPr>
        <p:spPr>
          <a:xfrm>
            <a:off x="902878" y="1907075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Poduzetništvo</a:t>
            </a:r>
            <a:r>
              <a:rPr lang="en-US" sz="1600" dirty="0"/>
              <a:t> </a:t>
            </a:r>
            <a:r>
              <a:rPr lang="en-US" sz="1600" dirty="0" err="1"/>
              <a:t>koje</a:t>
            </a:r>
            <a:r>
              <a:rPr lang="en-US" sz="1600" dirty="0"/>
              <a:t> se </a:t>
            </a:r>
            <a:r>
              <a:rPr lang="en-US" sz="1600" dirty="0" err="1"/>
              <a:t>bazira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korištenju</a:t>
            </a:r>
            <a:r>
              <a:rPr lang="en-US" sz="1600" dirty="0"/>
              <a:t> </a:t>
            </a:r>
            <a:r>
              <a:rPr lang="en-US" sz="1600" dirty="0" err="1"/>
              <a:t>interneta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digitalnih</a:t>
            </a:r>
            <a:r>
              <a:rPr lang="en-US" sz="1600" dirty="0"/>
              <a:t> </a:t>
            </a:r>
            <a:r>
              <a:rPr lang="en-US" sz="1600" dirty="0" err="1"/>
              <a:t>tehnologija</a:t>
            </a:r>
            <a:endParaRPr lang="en-US" sz="1600" dirty="0"/>
          </a:p>
        </p:txBody>
      </p:sp>
      <p:sp>
        <p:nvSpPr>
          <p:cNvPr id="277" name="Google Shape;277;p32"/>
          <p:cNvSpPr txBox="1">
            <a:spLocks noGrp="1"/>
          </p:cNvSpPr>
          <p:nvPr>
            <p:ph type="subTitle" idx="7"/>
          </p:nvPr>
        </p:nvSpPr>
        <p:spPr>
          <a:xfrm>
            <a:off x="4893691" y="1674735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Tehnologija</a:t>
            </a:r>
            <a:r>
              <a:rPr lang="en-US" sz="1600" dirty="0"/>
              <a:t> </a:t>
            </a:r>
            <a:r>
              <a:rPr lang="en-US" sz="1600" dirty="0" err="1"/>
              <a:t>postaje</a:t>
            </a:r>
            <a:r>
              <a:rPr lang="en-US" sz="1600" dirty="0"/>
              <a:t> </a:t>
            </a:r>
            <a:r>
              <a:rPr lang="en-US" sz="1600" dirty="0" err="1"/>
              <a:t>osnovni</a:t>
            </a:r>
            <a:r>
              <a:rPr lang="en-US" sz="1600" dirty="0"/>
              <a:t> </a:t>
            </a:r>
            <a:r>
              <a:rPr lang="en-US" sz="1600" dirty="0" err="1"/>
              <a:t>resurs</a:t>
            </a:r>
            <a:r>
              <a:rPr lang="en-US" sz="1600" dirty="0"/>
              <a:t>, ne </a:t>
            </a:r>
            <a:r>
              <a:rPr lang="en-US" sz="1600" dirty="0" err="1"/>
              <a:t>samo</a:t>
            </a:r>
            <a:r>
              <a:rPr lang="en-US" sz="1600" dirty="0"/>
              <a:t> </a:t>
            </a:r>
            <a:r>
              <a:rPr lang="en-US" sz="1600" dirty="0" err="1"/>
              <a:t>pomoćni</a:t>
            </a:r>
            <a:r>
              <a:rPr lang="en-US" sz="1600" dirty="0"/>
              <a:t> </a:t>
            </a:r>
            <a:r>
              <a:rPr lang="en-US" sz="1600" dirty="0" err="1"/>
              <a:t>alat</a:t>
            </a:r>
            <a:endParaRPr lang="en-US" sz="1600" dirty="0"/>
          </a:p>
        </p:txBody>
      </p:sp>
      <p:sp>
        <p:nvSpPr>
          <p:cNvPr id="278" name="Google Shape;278;p32"/>
          <p:cNvSpPr txBox="1">
            <a:spLocks noGrp="1"/>
          </p:cNvSpPr>
          <p:nvPr>
            <p:ph type="subTitle" idx="8"/>
          </p:nvPr>
        </p:nvSpPr>
        <p:spPr>
          <a:xfrm>
            <a:off x="4939500" y="3371775"/>
            <a:ext cx="3484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Omogućava</a:t>
            </a:r>
            <a:r>
              <a:rPr lang="en-US" sz="1600" dirty="0"/>
              <a:t> </a:t>
            </a:r>
            <a:r>
              <a:rPr lang="en-US" sz="1600" dirty="0" err="1"/>
              <a:t>brz</a:t>
            </a:r>
            <a:r>
              <a:rPr lang="en-US" sz="1600" dirty="0"/>
              <a:t> </a:t>
            </a:r>
            <a:r>
              <a:rPr lang="en-US" sz="1600" dirty="0" err="1"/>
              <a:t>pristup</a:t>
            </a:r>
            <a:r>
              <a:rPr lang="en-US" sz="1600" dirty="0"/>
              <a:t> </a:t>
            </a:r>
            <a:r>
              <a:rPr lang="en-US" sz="1600" dirty="0" err="1"/>
              <a:t>globalnom</a:t>
            </a:r>
            <a:r>
              <a:rPr lang="en-US" sz="1600" dirty="0"/>
              <a:t> </a:t>
            </a:r>
            <a:r>
              <a:rPr lang="en-US" sz="1600" dirty="0" err="1"/>
              <a:t>tržištu</a:t>
            </a:r>
            <a:endParaRPr lang="en-US" sz="1600" dirty="0"/>
          </a:p>
        </p:txBody>
      </p:sp>
      <p:sp>
        <p:nvSpPr>
          <p:cNvPr id="279" name="Google Shape;279;p32"/>
          <p:cNvSpPr/>
          <p:nvPr/>
        </p:nvSpPr>
        <p:spPr>
          <a:xfrm>
            <a:off x="765780" y="1642525"/>
            <a:ext cx="137100" cy="137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765780" y="3303225"/>
            <a:ext cx="137100" cy="137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4756580" y="1642525"/>
            <a:ext cx="137100" cy="137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4756580" y="3303225"/>
            <a:ext cx="137100" cy="137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073D-AC6A-6AD7-1144-1A2EF149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Razlike</a:t>
            </a:r>
            <a:r>
              <a:rPr lang="en-US" dirty="0"/>
              <a:t> </a:t>
            </a:r>
            <a:r>
              <a:rPr lang="en-US" dirty="0" err="1"/>
              <a:t>tradicionalni</a:t>
            </a:r>
            <a:r>
              <a:rPr lang="en-US" dirty="0"/>
              <a:t> vs. </a:t>
            </a:r>
            <a:r>
              <a:rPr lang="en-US" dirty="0" err="1"/>
              <a:t>digitalni</a:t>
            </a:r>
            <a:r>
              <a:rPr lang="en-US" dirty="0"/>
              <a:t> </a:t>
            </a:r>
            <a:r>
              <a:rPr lang="en-US" dirty="0" err="1"/>
              <a:t>poduzetnici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1FB00B-B655-F152-A631-0844AE07C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69947"/>
              </p:ext>
            </p:extLst>
          </p:nvPr>
        </p:nvGraphicFramePr>
        <p:xfrm>
          <a:off x="1524000" y="1644650"/>
          <a:ext cx="6096000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147874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3023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Tradicionalni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Digitalni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0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Fizička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lokacija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Online </a:t>
                      </a:r>
                      <a:r>
                        <a:rPr lang="en-US" dirty="0" err="1"/>
                        <a:t>poslovanje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61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Lokalni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kupci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Globalni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kupci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Viši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početni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troškovi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Niži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troškovi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pokretanja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65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Stabilniji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Brže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prilagodbe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veći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rizik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442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95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2BF75-88AC-18CE-25A6-963606DF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Digitalnog</a:t>
            </a:r>
            <a:r>
              <a:rPr lang="en-US" dirty="0"/>
              <a:t> </a:t>
            </a:r>
            <a:r>
              <a:rPr lang="en-US" dirty="0" err="1"/>
              <a:t>Poduzetnika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2B7CA9D-6837-CA75-7D60-FC9B8AB331C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4241275"/>
            <a:ext cx="3484500" cy="457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Digitalna</a:t>
            </a:r>
            <a:r>
              <a:rPr lang="en-US" sz="1600" dirty="0"/>
              <a:t> </a:t>
            </a:r>
            <a:r>
              <a:rPr lang="en-US" sz="1600" dirty="0" err="1"/>
              <a:t>pismenost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razumijevanje</a:t>
            </a:r>
            <a:r>
              <a:rPr lang="en-US" sz="1600" dirty="0"/>
              <a:t> </a:t>
            </a:r>
            <a:r>
              <a:rPr lang="en-US" sz="1600" dirty="0" err="1"/>
              <a:t>novih</a:t>
            </a:r>
            <a:r>
              <a:rPr lang="en-US" sz="1600" dirty="0"/>
              <a:t> </a:t>
            </a:r>
            <a:r>
              <a:rPr lang="en-US" sz="1600" dirty="0" err="1"/>
              <a:t>tehnologija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Inovativnost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spremnost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eksperimentiranje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Brza </a:t>
            </a:r>
            <a:r>
              <a:rPr lang="en-US" sz="1600" dirty="0" err="1"/>
              <a:t>prilagodba</a:t>
            </a:r>
            <a:r>
              <a:rPr lang="en-US" sz="1600" dirty="0"/>
              <a:t> </a:t>
            </a:r>
            <a:r>
              <a:rPr lang="en-US" sz="1600" dirty="0" err="1"/>
              <a:t>tržišnim</a:t>
            </a:r>
            <a:r>
              <a:rPr lang="en-US" sz="1600" dirty="0"/>
              <a:t> </a:t>
            </a:r>
            <a:r>
              <a:rPr lang="en-US" sz="1600" dirty="0" err="1"/>
              <a:t>promjenama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Usmjerenost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iskustvo</a:t>
            </a:r>
            <a:r>
              <a:rPr lang="en-US" sz="1600" dirty="0"/>
              <a:t> </a:t>
            </a:r>
            <a:r>
              <a:rPr lang="en-US" sz="1600" dirty="0" err="1"/>
              <a:t>korisnika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625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FA19-15CC-8D72-61E2-CC95C01F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Infobip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6D1B1EB-97DB-6589-855B-5948CFA9C629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3113917"/>
            <a:ext cx="7704000" cy="457200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Osnovana</a:t>
            </a:r>
            <a:r>
              <a:rPr lang="en-US" sz="1600" dirty="0"/>
              <a:t> 2006. u </a:t>
            </a:r>
            <a:r>
              <a:rPr lang="en-US" sz="1600" dirty="0" err="1"/>
              <a:t>Vodnjanu</a:t>
            </a:r>
            <a:r>
              <a:rPr lang="en-US" sz="1600" dirty="0"/>
              <a:t> od Silvia </a:t>
            </a:r>
            <a:r>
              <a:rPr lang="en-US" sz="1600" dirty="0" err="1"/>
              <a:t>Kutića</a:t>
            </a:r>
            <a:r>
              <a:rPr lang="en-US" sz="1600" dirty="0"/>
              <a:t>, Roberta </a:t>
            </a:r>
            <a:r>
              <a:rPr lang="en-US" sz="1600" dirty="0" err="1"/>
              <a:t>Kutića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Izabel Jelenić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Globalna</a:t>
            </a:r>
            <a:r>
              <a:rPr lang="en-US" sz="1600" dirty="0"/>
              <a:t> </a:t>
            </a:r>
            <a:r>
              <a:rPr lang="en-US" sz="1600" dirty="0" err="1"/>
              <a:t>platforma</a:t>
            </a:r>
            <a:r>
              <a:rPr lang="en-US" sz="1600" dirty="0"/>
              <a:t> za </a:t>
            </a:r>
            <a:r>
              <a:rPr lang="en-US" sz="1600" dirty="0" err="1"/>
              <a:t>komunikaciju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Posluje</a:t>
            </a:r>
            <a:r>
              <a:rPr lang="en-US" sz="1600" dirty="0"/>
              <a:t> u </a:t>
            </a:r>
            <a:r>
              <a:rPr lang="en-US" sz="1600" dirty="0" err="1"/>
              <a:t>preko</a:t>
            </a:r>
            <a:r>
              <a:rPr lang="en-US" sz="1600" dirty="0"/>
              <a:t> 70 </a:t>
            </a:r>
            <a:r>
              <a:rPr lang="en-US" sz="1600" dirty="0" err="1"/>
              <a:t>zemalja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/>
              <a:t>Prvi </a:t>
            </a:r>
            <a:r>
              <a:rPr lang="en-US" sz="1600" dirty="0" err="1"/>
              <a:t>hrvatski</a:t>
            </a:r>
            <a:r>
              <a:rPr lang="en-US" sz="1600" dirty="0"/>
              <a:t> </a:t>
            </a:r>
            <a:r>
              <a:rPr lang="en-US" sz="1600" dirty="0" err="1"/>
              <a:t>jednoroga</a:t>
            </a:r>
            <a:r>
              <a:rPr lang="en-US" sz="1600" dirty="0"/>
              <a:t> (</a:t>
            </a:r>
            <a:r>
              <a:rPr lang="en-US" sz="1600" dirty="0" err="1"/>
              <a:t>vrijednost</a:t>
            </a:r>
            <a:r>
              <a:rPr lang="en-US" sz="1600" dirty="0"/>
              <a:t> &gt; $1B)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2050" name="Picture 2" descr="Download Infobip Logo in SVG Vector or PNG File Format ...">
            <a:extLst>
              <a:ext uri="{FF2B5EF4-FFF2-40B4-BE49-F238E27FC236}">
                <a16:creationId xmlns:a16="http://schemas.microsoft.com/office/drawing/2014/main" id="{A64CB80E-17F0-5CFD-70B6-E9C93A253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67" y="2420025"/>
            <a:ext cx="2767476" cy="184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969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B4E9-2DCB-21BF-2CDD-72991D89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Rimac Automobili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F3670D9-EE8F-BB75-AB0F-868EC9B660E6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2992536"/>
            <a:ext cx="6676120" cy="457200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Osnovana</a:t>
            </a:r>
            <a:r>
              <a:rPr lang="en-US" sz="1600" dirty="0"/>
              <a:t> 2009. od Mate </a:t>
            </a:r>
            <a:r>
              <a:rPr lang="en-US" sz="1600" dirty="0" err="1"/>
              <a:t>Rimca</a:t>
            </a:r>
            <a:r>
              <a:rPr lang="en-US" sz="1600" dirty="0"/>
              <a:t> - </a:t>
            </a:r>
            <a:r>
              <a:rPr lang="en-US" sz="1600" dirty="0" err="1"/>
              <a:t>električni</a:t>
            </a:r>
            <a:r>
              <a:rPr lang="en-US" sz="1600" dirty="0"/>
              <a:t> </a:t>
            </a:r>
            <a:r>
              <a:rPr lang="en-US" sz="1600" dirty="0" err="1"/>
              <a:t>sportski</a:t>
            </a:r>
            <a:r>
              <a:rPr lang="en-US" sz="1600" dirty="0"/>
              <a:t> </a:t>
            </a:r>
            <a:r>
              <a:rPr lang="en-US" sz="1600" dirty="0" err="1"/>
              <a:t>automobili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Digitalna</a:t>
            </a:r>
            <a:r>
              <a:rPr lang="en-US" sz="1600" dirty="0"/>
              <a:t> </a:t>
            </a:r>
            <a:r>
              <a:rPr lang="en-US" sz="1600" dirty="0" err="1"/>
              <a:t>rješenja</a:t>
            </a:r>
            <a:r>
              <a:rPr lang="en-US" sz="1600" dirty="0"/>
              <a:t> u </a:t>
            </a:r>
            <a:r>
              <a:rPr lang="en-US" sz="1600" dirty="0" err="1"/>
              <a:t>automobilskoj</a:t>
            </a:r>
            <a:r>
              <a:rPr lang="en-US" sz="1600" dirty="0"/>
              <a:t> </a:t>
            </a:r>
            <a:r>
              <a:rPr lang="en-US" sz="1600" dirty="0" err="1"/>
              <a:t>industriji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Partnerstva</a:t>
            </a:r>
            <a:r>
              <a:rPr lang="en-US" sz="1600" dirty="0"/>
              <a:t> s </a:t>
            </a:r>
            <a:r>
              <a:rPr lang="en-US" sz="1600" dirty="0" err="1"/>
              <a:t>Porscheom</a:t>
            </a:r>
            <a:r>
              <a:rPr lang="en-US" sz="1600" dirty="0"/>
              <a:t>, </a:t>
            </a:r>
            <a:r>
              <a:rPr lang="en-US" sz="1600" dirty="0" err="1"/>
              <a:t>Bugattiem</a:t>
            </a:r>
            <a:r>
              <a:rPr lang="en-US" sz="1600" dirty="0"/>
              <a:t>, </a:t>
            </a:r>
            <a:r>
              <a:rPr lang="en-US" sz="1600" dirty="0" err="1"/>
              <a:t>Hyundaiem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Tehnološki</a:t>
            </a:r>
            <a:r>
              <a:rPr lang="en-US" sz="1600" dirty="0"/>
              <a:t> </a:t>
            </a:r>
            <a:r>
              <a:rPr lang="en-US" sz="1600" dirty="0" err="1"/>
              <a:t>lider</a:t>
            </a:r>
            <a:r>
              <a:rPr lang="en-US" sz="1600" dirty="0"/>
              <a:t> u </a:t>
            </a:r>
            <a:r>
              <a:rPr lang="en-US" sz="1600" dirty="0" err="1"/>
              <a:t>Europi</a:t>
            </a:r>
            <a:endParaRPr lang="en-US" sz="1600" dirty="0"/>
          </a:p>
        </p:txBody>
      </p:sp>
      <p:pic>
        <p:nvPicPr>
          <p:cNvPr id="3074" name="Picture 2" descr="Design - Rimac Automobili">
            <a:extLst>
              <a:ext uri="{FF2B5EF4-FFF2-40B4-BE49-F238E27FC236}">
                <a16:creationId xmlns:a16="http://schemas.microsoft.com/office/drawing/2014/main" id="{6C6D6379-E964-1EA9-D011-0CC69742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280" y="1744551"/>
            <a:ext cx="5826265" cy="327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14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2EE3-0276-E8F1-020C-B75364E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Photomath</a:t>
            </a:r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5CEBF46-9D50-6194-7818-7C06E349C296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720000" y="3151267"/>
            <a:ext cx="7113090" cy="457200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Razvijena</a:t>
            </a:r>
            <a:r>
              <a:rPr lang="en-US" sz="1600" dirty="0"/>
              <a:t> 2014. od Damira Sambola za </a:t>
            </a:r>
            <a:r>
              <a:rPr lang="en-US" sz="1600" dirty="0" err="1"/>
              <a:t>rješavanje</a:t>
            </a:r>
            <a:r>
              <a:rPr lang="en-US" sz="1600" dirty="0"/>
              <a:t> </a:t>
            </a:r>
            <a:r>
              <a:rPr lang="en-US" sz="1600" dirty="0" err="1"/>
              <a:t>matematičkih</a:t>
            </a:r>
            <a:r>
              <a:rPr lang="en-US" sz="1600" dirty="0"/>
              <a:t> </a:t>
            </a:r>
            <a:r>
              <a:rPr lang="en-US" sz="1600" dirty="0" err="1"/>
              <a:t>zadataka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Preko</a:t>
            </a:r>
            <a:r>
              <a:rPr lang="en-US" sz="1600" dirty="0"/>
              <a:t> 300 </a:t>
            </a:r>
            <a:r>
              <a:rPr lang="en-US" sz="1600" dirty="0" err="1"/>
              <a:t>milijuna</a:t>
            </a:r>
            <a:r>
              <a:rPr lang="en-US" sz="1600" dirty="0"/>
              <a:t> </a:t>
            </a:r>
            <a:r>
              <a:rPr lang="en-US" sz="1600" dirty="0" err="1"/>
              <a:t>preuzimanja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/>
              <a:t>2023. - </a:t>
            </a:r>
            <a:r>
              <a:rPr lang="en-US" sz="1600" dirty="0" err="1"/>
              <a:t>preuzima</a:t>
            </a:r>
            <a:r>
              <a:rPr lang="en-US" sz="1600" dirty="0"/>
              <a:t> je Google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Primjer</a:t>
            </a:r>
            <a:r>
              <a:rPr lang="en-US" sz="1600" dirty="0"/>
              <a:t> </a:t>
            </a:r>
            <a:r>
              <a:rPr lang="en-US" sz="1600" dirty="0" err="1"/>
              <a:t>kako</a:t>
            </a:r>
            <a:r>
              <a:rPr lang="en-US" sz="1600" dirty="0"/>
              <a:t> se </a:t>
            </a:r>
            <a:r>
              <a:rPr lang="en-US" sz="1600" dirty="0" err="1"/>
              <a:t>jednostavna</a:t>
            </a:r>
            <a:r>
              <a:rPr lang="en-US" sz="1600" dirty="0"/>
              <a:t> </a:t>
            </a:r>
            <a:r>
              <a:rPr lang="en-US" sz="1600" dirty="0" err="1"/>
              <a:t>ideja</a:t>
            </a:r>
            <a:r>
              <a:rPr lang="en-US" sz="1600" dirty="0"/>
              <a:t> </a:t>
            </a:r>
            <a:r>
              <a:rPr lang="en-US" sz="1600" dirty="0" err="1"/>
              <a:t>može</a:t>
            </a:r>
            <a:r>
              <a:rPr lang="en-US" sz="1600" dirty="0"/>
              <a:t> </a:t>
            </a:r>
            <a:r>
              <a:rPr lang="en-US" sz="1600" dirty="0" err="1"/>
              <a:t>plasirati</a:t>
            </a:r>
            <a:r>
              <a:rPr lang="en-US" sz="1600" dirty="0"/>
              <a:t> </a:t>
            </a:r>
            <a:r>
              <a:rPr lang="en-US" sz="1600" dirty="0" err="1"/>
              <a:t>globalno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4100" name="Picture 4" descr="Photomath App Icon Design - Clear and Customizable">
            <a:extLst>
              <a:ext uri="{FF2B5EF4-FFF2-40B4-BE49-F238E27FC236}">
                <a16:creationId xmlns:a16="http://schemas.microsoft.com/office/drawing/2014/main" id="{7D54DDEB-BA2E-A7F9-63E0-37F060E7C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523" y="2168665"/>
            <a:ext cx="1712477" cy="171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98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A3D0-F556-287E-F9D7-6CD5D2B7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05ED-668D-5FB5-7347-2A4AFB91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A6F6142-CF4C-558B-62DB-AB9B41B40501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3303183"/>
            <a:ext cx="6797501" cy="457200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/>
              <a:t>1994. Jeff Bezos - </a:t>
            </a:r>
            <a:r>
              <a:rPr lang="en-US" sz="1600" dirty="0" err="1"/>
              <a:t>internetska</a:t>
            </a:r>
            <a:r>
              <a:rPr lang="en-US" sz="1600" dirty="0"/>
              <a:t> </a:t>
            </a:r>
            <a:r>
              <a:rPr lang="en-US" sz="1600" dirty="0" err="1"/>
              <a:t>knjižara</a:t>
            </a:r>
            <a:r>
              <a:rPr lang="en-US" sz="1600" dirty="0"/>
              <a:t> </a:t>
            </a:r>
            <a:r>
              <a:rPr lang="en-US" sz="1600" dirty="0" err="1"/>
              <a:t>koja</a:t>
            </a:r>
            <a:r>
              <a:rPr lang="en-US" sz="1600" dirty="0"/>
              <a:t> je </a:t>
            </a:r>
            <a:r>
              <a:rPr lang="en-US" sz="1600" dirty="0" err="1"/>
              <a:t>postala</a:t>
            </a:r>
            <a:r>
              <a:rPr lang="en-US" sz="1600" dirty="0"/>
              <a:t> e-</a:t>
            </a:r>
            <a:r>
              <a:rPr lang="en-US" sz="1600" dirty="0" err="1"/>
              <a:t>carstvo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Ekspanzija</a:t>
            </a:r>
            <a:r>
              <a:rPr lang="en-US" sz="1600" dirty="0"/>
              <a:t> u </a:t>
            </a:r>
            <a:r>
              <a:rPr lang="en-US" sz="1600" dirty="0" err="1"/>
              <a:t>logistiku</a:t>
            </a:r>
            <a:r>
              <a:rPr lang="en-US" sz="1600" dirty="0"/>
              <a:t>, AI, </a:t>
            </a:r>
            <a:r>
              <a:rPr lang="en-US" sz="1600" dirty="0" err="1"/>
              <a:t>razne</a:t>
            </a:r>
            <a:r>
              <a:rPr lang="en-US" sz="1600" dirty="0"/>
              <a:t> </a:t>
            </a:r>
            <a:r>
              <a:rPr lang="en-US" sz="1600" dirty="0" err="1"/>
              <a:t>sektore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Kultura</a:t>
            </a:r>
            <a:r>
              <a:rPr lang="en-US" sz="1600" dirty="0"/>
              <a:t> </a:t>
            </a:r>
            <a:r>
              <a:rPr lang="en-US" sz="1600" dirty="0" err="1"/>
              <a:t>eksperimentiranja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prihvaćanja</a:t>
            </a:r>
            <a:r>
              <a:rPr lang="en-US" sz="1600" dirty="0"/>
              <a:t> </a:t>
            </a:r>
            <a:r>
              <a:rPr lang="en-US" sz="1600" dirty="0" err="1"/>
              <a:t>neuspjeha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Promijenio</a:t>
            </a:r>
            <a:r>
              <a:rPr lang="en-US" sz="1600" dirty="0"/>
              <a:t> </a:t>
            </a:r>
            <a:r>
              <a:rPr lang="hr-HR" sz="1600" dirty="0"/>
              <a:t>navike</a:t>
            </a:r>
            <a:r>
              <a:rPr lang="az-Cyrl-AZ" sz="1600" dirty="0"/>
              <a:t> </a:t>
            </a:r>
            <a:r>
              <a:rPr lang="en-US" sz="1600" dirty="0" err="1"/>
              <a:t>kupovanja</a:t>
            </a:r>
            <a:r>
              <a:rPr lang="en-US" sz="1600" dirty="0"/>
              <a:t> </a:t>
            </a:r>
            <a:r>
              <a:rPr lang="en-US" sz="1600" dirty="0" err="1"/>
              <a:t>milijuna</a:t>
            </a:r>
            <a:r>
              <a:rPr lang="en-US" sz="1600" dirty="0"/>
              <a:t> </a:t>
            </a:r>
            <a:r>
              <a:rPr lang="en-US" sz="1600" dirty="0" err="1"/>
              <a:t>korisnika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124" name="Picture 4" descr="amazon logo png, amazon icon transparent png 19766240 PNG">
            <a:extLst>
              <a:ext uri="{FF2B5EF4-FFF2-40B4-BE49-F238E27FC236}">
                <a16:creationId xmlns:a16="http://schemas.microsoft.com/office/drawing/2014/main" id="{F9FD5601-8ABB-34D8-7253-107761661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627" y="3531783"/>
            <a:ext cx="3406746" cy="127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67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0651-94CC-C012-53AB-C8E7474E8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Spotify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7E35E46-B120-BA8F-48FE-752922242FC8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2996582"/>
            <a:ext cx="7558152" cy="457200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/>
              <a:t>2008. Daniel Ek </a:t>
            </a:r>
            <a:r>
              <a:rPr lang="en-US" sz="1600" dirty="0" err="1"/>
              <a:t>i</a:t>
            </a:r>
            <a:r>
              <a:rPr lang="en-US" sz="1600" dirty="0"/>
              <a:t> Martin </a:t>
            </a:r>
            <a:r>
              <a:rPr lang="en-US" sz="1600" dirty="0" err="1"/>
              <a:t>Lorentzon</a:t>
            </a:r>
            <a:r>
              <a:rPr lang="en-US" sz="1600" dirty="0"/>
              <a:t> - streaming model </a:t>
            </a:r>
            <a:r>
              <a:rPr lang="en-US" sz="1600" dirty="0" err="1"/>
              <a:t>glazbe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Zamijenio</a:t>
            </a:r>
            <a:r>
              <a:rPr lang="en-US" sz="1600" dirty="0"/>
              <a:t> </a:t>
            </a:r>
            <a:r>
              <a:rPr lang="en-US" sz="1600" dirty="0" err="1"/>
              <a:t>tradicionalnu</a:t>
            </a:r>
            <a:r>
              <a:rPr lang="en-US" sz="1600" dirty="0"/>
              <a:t> </a:t>
            </a:r>
            <a:r>
              <a:rPr lang="en-US" sz="1600" dirty="0" err="1"/>
              <a:t>kupovinu</a:t>
            </a:r>
            <a:r>
              <a:rPr lang="en-US" sz="1600" dirty="0"/>
              <a:t> CD-a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Personalizirane</a:t>
            </a:r>
            <a:r>
              <a:rPr lang="en-US" sz="1600" dirty="0"/>
              <a:t> </a:t>
            </a:r>
            <a:r>
              <a:rPr lang="en-US" sz="1600" dirty="0" err="1"/>
              <a:t>preporuke</a:t>
            </a:r>
            <a:r>
              <a:rPr lang="en-US" sz="1600" dirty="0"/>
              <a:t> </a:t>
            </a:r>
            <a:r>
              <a:rPr lang="en-US" sz="1600" dirty="0" err="1"/>
              <a:t>kroz</a:t>
            </a:r>
            <a:r>
              <a:rPr lang="en-US" sz="1600" dirty="0"/>
              <a:t> AI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Povezao</a:t>
            </a:r>
            <a:r>
              <a:rPr lang="en-US" sz="1600" dirty="0"/>
              <a:t> </a:t>
            </a:r>
            <a:r>
              <a:rPr lang="en-US" sz="1600" dirty="0" err="1"/>
              <a:t>glazbenu</a:t>
            </a:r>
            <a:r>
              <a:rPr lang="en-US" sz="1600" dirty="0"/>
              <a:t> </a:t>
            </a:r>
            <a:r>
              <a:rPr lang="en-US" sz="1600" dirty="0" err="1"/>
              <a:t>industriju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tehnologiju</a:t>
            </a:r>
            <a:endParaRPr lang="en-US" sz="1600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63CA777-E35A-8E15-9F9A-E13E9771E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107" y="2380323"/>
            <a:ext cx="1637045" cy="168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516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4290-B381-26BC-CCCE-306FD8E2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1BD4-B3FF-F873-36F2-19B9B9BA3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Airbnb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40A7021-AAD2-CC89-B561-AD6CEC85F388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3049179"/>
            <a:ext cx="6962579" cy="572699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/>
              <a:t>2007. Brian Chesky, Joe Gebbia, Nathan Blecharczyk - </a:t>
            </a:r>
            <a:r>
              <a:rPr lang="en-US" sz="1600" dirty="0" err="1"/>
              <a:t>iznajmljivanje</a:t>
            </a:r>
            <a:r>
              <a:rPr lang="en-US" sz="1600" dirty="0"/>
              <a:t> </a:t>
            </a:r>
            <a:r>
              <a:rPr lang="en-US" sz="1600" dirty="0" err="1"/>
              <a:t>privatnih</a:t>
            </a:r>
            <a:r>
              <a:rPr lang="en-US" sz="1600" dirty="0"/>
              <a:t> </a:t>
            </a:r>
            <a:r>
              <a:rPr lang="en-US" sz="1600" dirty="0" err="1"/>
              <a:t>smještaja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Povezao</a:t>
            </a:r>
            <a:r>
              <a:rPr lang="en-US" sz="1600" dirty="0"/>
              <a:t> </a:t>
            </a:r>
            <a:r>
              <a:rPr lang="hr-HR" sz="1600" dirty="0" err="1"/>
              <a:t>obe</a:t>
            </a:r>
            <a:r>
              <a:rPr lang="az-Cyrl-AZ" sz="1600" dirty="0"/>
              <a:t> </a:t>
            </a:r>
            <a:r>
              <a:rPr lang="en-US" sz="1600" dirty="0" err="1"/>
              <a:t>strane</a:t>
            </a:r>
            <a:r>
              <a:rPr lang="en-US" sz="1600" dirty="0"/>
              <a:t>: </a:t>
            </a:r>
            <a:r>
              <a:rPr lang="en-US" sz="1600" dirty="0" err="1"/>
              <a:t>iznajmljivače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putnike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Revolucionizirao</a:t>
            </a:r>
            <a:r>
              <a:rPr lang="en-US" sz="1600" dirty="0"/>
              <a:t> </a:t>
            </a:r>
            <a:r>
              <a:rPr lang="en-US" sz="1600" dirty="0" err="1"/>
              <a:t>turizam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smještaj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Dostupan</a:t>
            </a:r>
            <a:r>
              <a:rPr lang="en-US" sz="1600" dirty="0"/>
              <a:t> u </a:t>
            </a:r>
            <a:r>
              <a:rPr lang="en-US" sz="1600" dirty="0" err="1"/>
              <a:t>skoro</a:t>
            </a:r>
            <a:r>
              <a:rPr lang="en-US" sz="1600" dirty="0"/>
              <a:t> </a:t>
            </a:r>
            <a:r>
              <a:rPr lang="en-US" sz="1600" dirty="0" err="1"/>
              <a:t>svim</a:t>
            </a:r>
            <a:r>
              <a:rPr lang="en-US" sz="1600" dirty="0"/>
              <a:t> </a:t>
            </a:r>
            <a:r>
              <a:rPr lang="en-US" sz="1600" dirty="0" err="1"/>
              <a:t>zemljama</a:t>
            </a:r>
            <a:r>
              <a:rPr lang="en-US" sz="1600" dirty="0"/>
              <a:t> </a:t>
            </a:r>
            <a:r>
              <a:rPr lang="en-US" sz="1600" dirty="0" err="1"/>
              <a:t>svijeta</a:t>
            </a:r>
            <a:endParaRPr lang="en-US" sz="1600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07973EC5-2959-E200-8CD3-D00D38521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121" y="2853136"/>
            <a:ext cx="2459975" cy="76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292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0F00-5D52-C73F-7AD1-FB618E82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7529-B0C2-2C0A-143D-694C62F1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Čimbenici</a:t>
            </a:r>
            <a:r>
              <a:rPr lang="en-US" dirty="0"/>
              <a:t> </a:t>
            </a:r>
            <a:r>
              <a:rPr lang="en-US" dirty="0" err="1"/>
              <a:t>uspjeha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36F41E7-D3C7-CF5E-2A4F-24098F85A906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2952074"/>
            <a:ext cx="6962579" cy="572699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Prepoznavanje</a:t>
            </a:r>
            <a:r>
              <a:rPr lang="en-US" sz="1600" dirty="0"/>
              <a:t> </a:t>
            </a:r>
            <a:r>
              <a:rPr lang="en-US" sz="1600" dirty="0" err="1"/>
              <a:t>potreba</a:t>
            </a:r>
            <a:r>
              <a:rPr lang="en-US" sz="1600" dirty="0"/>
              <a:t> </a:t>
            </a:r>
            <a:r>
              <a:rPr lang="en-US" sz="1600" dirty="0" err="1"/>
              <a:t>korisnika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Korištenje</a:t>
            </a:r>
            <a:r>
              <a:rPr lang="en-US" sz="1600" dirty="0"/>
              <a:t> </a:t>
            </a:r>
            <a:r>
              <a:rPr lang="en-US" sz="1600" dirty="0" err="1"/>
              <a:t>tehnologije</a:t>
            </a:r>
            <a:r>
              <a:rPr lang="en-US" sz="1600" dirty="0"/>
              <a:t> za </a:t>
            </a:r>
            <a:r>
              <a:rPr lang="en-US" sz="1600" dirty="0" err="1"/>
              <a:t>rješavanje</a:t>
            </a:r>
            <a:r>
              <a:rPr lang="en-US" sz="1600" dirty="0"/>
              <a:t> </a:t>
            </a:r>
            <a:r>
              <a:rPr lang="en-US" sz="1600" dirty="0" err="1"/>
              <a:t>problema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/>
              <a:t>Brza </a:t>
            </a:r>
            <a:r>
              <a:rPr lang="en-US" sz="1600" dirty="0" err="1"/>
              <a:t>prilagodba</a:t>
            </a:r>
            <a:r>
              <a:rPr lang="en-US" sz="1600" dirty="0"/>
              <a:t> </a:t>
            </a:r>
            <a:r>
              <a:rPr lang="en-US" sz="1600" dirty="0" err="1"/>
              <a:t>tržišnim</a:t>
            </a:r>
            <a:r>
              <a:rPr lang="en-US" sz="1600" dirty="0"/>
              <a:t> </a:t>
            </a:r>
            <a:r>
              <a:rPr lang="en-US" sz="1600" dirty="0" err="1"/>
              <a:t>promjenama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Globalni</a:t>
            </a:r>
            <a:r>
              <a:rPr lang="en-US" sz="1600" dirty="0"/>
              <a:t> </a:t>
            </a:r>
            <a:r>
              <a:rPr lang="en-US" sz="1600" dirty="0" err="1"/>
              <a:t>pristup</a:t>
            </a:r>
            <a:r>
              <a:rPr lang="en-US" sz="1600" dirty="0"/>
              <a:t> bez </a:t>
            </a:r>
            <a:r>
              <a:rPr lang="en-US" sz="1600" dirty="0" err="1"/>
              <a:t>fizičkih</a:t>
            </a:r>
            <a:r>
              <a:rPr lang="en-US" sz="1600" dirty="0"/>
              <a:t> </a:t>
            </a:r>
            <a:r>
              <a:rPr lang="en-US" sz="1600" dirty="0" err="1"/>
              <a:t>ograničenja</a:t>
            </a:r>
            <a:endParaRPr lang="en-US" sz="1600" dirty="0"/>
          </a:p>
        </p:txBody>
      </p:sp>
      <p:pic>
        <p:nvPicPr>
          <p:cNvPr id="8194" name="Picture 2" descr="7 key project success factors in project management">
            <a:extLst>
              <a:ext uri="{FF2B5EF4-FFF2-40B4-BE49-F238E27FC236}">
                <a16:creationId xmlns:a16="http://schemas.microsoft.com/office/drawing/2014/main" id="{3BAB3FBD-C97A-5E69-CD14-8350FA394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536" y="1678929"/>
            <a:ext cx="2678464" cy="178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265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518F-497D-7E7C-E474-C54338CC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Zaključak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C226B1C-C73F-7765-41C2-4517DAEDE8A5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3100883"/>
            <a:ext cx="7488752" cy="457200"/>
          </a:xfrm>
        </p:spPr>
        <p:txBody>
          <a:bodyPr/>
          <a:lstStyle/>
          <a:p>
            <a:pPr marL="152400" indent="0"/>
            <a:r>
              <a:rPr lang="en-US" sz="1600" dirty="0" err="1"/>
              <a:t>Digitalno</a:t>
            </a:r>
            <a:r>
              <a:rPr lang="en-US" sz="1600" dirty="0"/>
              <a:t> </a:t>
            </a:r>
            <a:r>
              <a:rPr lang="en-US" sz="1600" dirty="0" err="1"/>
              <a:t>poduzetništvo</a:t>
            </a:r>
            <a:r>
              <a:rPr lang="en-US" sz="1600" dirty="0"/>
              <a:t> </a:t>
            </a:r>
            <a:r>
              <a:rPr lang="en-US" sz="1600" dirty="0" err="1"/>
              <a:t>spaja</a:t>
            </a:r>
            <a:r>
              <a:rPr lang="en-US" sz="1600" dirty="0"/>
              <a:t>:</a:t>
            </a:r>
          </a:p>
          <a:p>
            <a:pPr marL="152400" indent="0"/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Tehnologiju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inovacije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Prepoznavanje</a:t>
            </a:r>
            <a:r>
              <a:rPr lang="en-US" sz="1600" dirty="0"/>
              <a:t> </a:t>
            </a:r>
            <a:r>
              <a:rPr lang="en-US" sz="1600" dirty="0" err="1"/>
              <a:t>potreba</a:t>
            </a:r>
            <a:r>
              <a:rPr lang="en-US" sz="1600" dirty="0"/>
              <a:t> </a:t>
            </a:r>
            <a:r>
              <a:rPr lang="en-US" sz="1600" dirty="0" err="1"/>
              <a:t>tržišta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Prilagodbu</a:t>
            </a:r>
            <a:r>
              <a:rPr lang="en-US" sz="1600" dirty="0"/>
              <a:t> </a:t>
            </a:r>
            <a:r>
              <a:rPr lang="en-US" sz="1600" dirty="0" err="1"/>
              <a:t>novim</a:t>
            </a:r>
            <a:r>
              <a:rPr lang="en-US" sz="1600" dirty="0"/>
              <a:t> </a:t>
            </a:r>
            <a:r>
              <a:rPr lang="en-US" sz="1600" dirty="0" err="1"/>
              <a:t>trendovima</a:t>
            </a:r>
            <a:endParaRPr lang="en-US" sz="160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52400" indent="0"/>
            <a:r>
              <a:rPr lang="en-US" sz="1600" dirty="0" err="1"/>
              <a:t>Budućnost</a:t>
            </a:r>
            <a:r>
              <a:rPr lang="en-US" sz="1600" dirty="0"/>
              <a:t> je u </a:t>
            </a:r>
            <a:r>
              <a:rPr lang="en-US" sz="1600" dirty="0" err="1"/>
              <a:t>malim</a:t>
            </a:r>
            <a:r>
              <a:rPr lang="en-US" sz="1600" dirty="0"/>
              <a:t> </a:t>
            </a:r>
            <a:r>
              <a:rPr lang="en-US" sz="1600" dirty="0" err="1"/>
              <a:t>digitalnim</a:t>
            </a:r>
            <a:r>
              <a:rPr lang="en-US" sz="1600" dirty="0"/>
              <a:t> </a:t>
            </a:r>
            <a:r>
              <a:rPr lang="en-US" sz="1600" dirty="0" err="1"/>
              <a:t>poduzetnicima</a:t>
            </a:r>
            <a:r>
              <a:rPr lang="en-US" sz="1600" dirty="0"/>
              <a:t> koji </a:t>
            </a:r>
            <a:r>
              <a:rPr lang="en-US" sz="1600" dirty="0" err="1"/>
              <a:t>će</a:t>
            </a:r>
            <a:r>
              <a:rPr lang="en-US" sz="1600" dirty="0"/>
              <a:t> </a:t>
            </a:r>
            <a:r>
              <a:rPr lang="en-US" sz="1600" dirty="0" err="1"/>
              <a:t>nastaviti</a:t>
            </a:r>
            <a:r>
              <a:rPr lang="en-US" sz="1600" dirty="0"/>
              <a:t> </a:t>
            </a:r>
            <a:r>
              <a:rPr lang="en-US" sz="1600" dirty="0" err="1"/>
              <a:t>mijenjati</a:t>
            </a:r>
            <a:r>
              <a:rPr lang="en-US" sz="1600" dirty="0"/>
              <a:t> </a:t>
            </a:r>
            <a:r>
              <a:rPr lang="en-US" sz="1600" dirty="0" err="1"/>
              <a:t>industrije</a:t>
            </a:r>
            <a:r>
              <a:rPr lang="en-US" sz="1600" dirty="0"/>
              <a:t>!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16779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9737-F72F-14FD-3C2F-7E94F72B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00FC-4496-B827-8A52-5354D864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Pitanja</a:t>
            </a:r>
            <a:r>
              <a:rPr lang="en-US" dirty="0"/>
              <a:t> za </a:t>
            </a:r>
            <a:r>
              <a:rPr lang="en-US" dirty="0" err="1"/>
              <a:t>raspravu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99BD701-977D-61B7-427C-3B74ABAAAB19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3978707"/>
            <a:ext cx="7488752" cy="457200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b="0" dirty="0"/>
              <a:t>Koji je po </a:t>
            </a:r>
            <a:r>
              <a:rPr lang="en-US" b="0" dirty="0" err="1"/>
              <a:t>vama</a:t>
            </a:r>
            <a:r>
              <a:rPr lang="en-US" b="0" dirty="0"/>
              <a:t> </a:t>
            </a:r>
            <a:r>
              <a:rPr lang="en-US" b="0" dirty="0" err="1"/>
              <a:t>najveći</a:t>
            </a:r>
            <a:r>
              <a:rPr lang="en-US" b="0" dirty="0"/>
              <a:t> </a:t>
            </a:r>
            <a:r>
              <a:rPr lang="en-US" b="0" dirty="0" err="1"/>
              <a:t>rizik</a:t>
            </a:r>
            <a:r>
              <a:rPr lang="en-US" b="0" dirty="0"/>
              <a:t> </a:t>
            </a:r>
            <a:r>
              <a:rPr lang="en-US" b="0" dirty="0" err="1"/>
              <a:t>digitalnog</a:t>
            </a:r>
            <a:r>
              <a:rPr lang="en-US" b="0" dirty="0"/>
              <a:t> </a:t>
            </a:r>
            <a:r>
              <a:rPr lang="en-US" b="0" dirty="0" err="1"/>
              <a:t>poduzetnika</a:t>
            </a:r>
            <a:r>
              <a:rPr lang="en-US" b="0" dirty="0"/>
              <a:t> (</a:t>
            </a:r>
            <a:r>
              <a:rPr lang="en-US" b="0" dirty="0" err="1"/>
              <a:t>konkurencija</a:t>
            </a:r>
            <a:r>
              <a:rPr lang="en-US" b="0" dirty="0"/>
              <a:t>, </a:t>
            </a:r>
            <a:r>
              <a:rPr lang="en-US" b="0" dirty="0" err="1"/>
              <a:t>brzina</a:t>
            </a:r>
            <a:r>
              <a:rPr lang="en-US" b="0" dirty="0"/>
              <a:t> </a:t>
            </a:r>
            <a:r>
              <a:rPr lang="en-US" b="0" dirty="0" err="1"/>
              <a:t>promjena</a:t>
            </a:r>
            <a:r>
              <a:rPr lang="en-US" b="0" dirty="0"/>
              <a:t>, </a:t>
            </a:r>
            <a:r>
              <a:rPr lang="en-US" b="0" dirty="0" err="1"/>
              <a:t>ovisnost</a:t>
            </a:r>
            <a:r>
              <a:rPr lang="en-US" b="0" dirty="0"/>
              <a:t> o </a:t>
            </a:r>
            <a:r>
              <a:rPr lang="en-US" b="0" dirty="0" err="1"/>
              <a:t>platformama</a:t>
            </a:r>
            <a:r>
              <a:rPr lang="en-US" b="0" dirty="0"/>
              <a:t>…)?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b="0" dirty="0"/>
              <a:t>Da sutra </a:t>
            </a:r>
            <a:r>
              <a:rPr lang="en-US" b="0" dirty="0" err="1"/>
              <a:t>nestanu</a:t>
            </a:r>
            <a:r>
              <a:rPr lang="en-US" b="0" dirty="0"/>
              <a:t> Amazon, Spotify </a:t>
            </a:r>
            <a:r>
              <a:rPr lang="en-US" b="0" dirty="0" err="1"/>
              <a:t>ili</a:t>
            </a:r>
            <a:r>
              <a:rPr lang="en-US" b="0" dirty="0"/>
              <a:t> Airbnb, </a:t>
            </a:r>
            <a:r>
              <a:rPr lang="en-US" b="0" dirty="0" err="1"/>
              <a:t>što</a:t>
            </a:r>
            <a:r>
              <a:rPr lang="en-US" b="0" dirty="0"/>
              <a:t> bi </a:t>
            </a:r>
            <a:r>
              <a:rPr lang="en-US" b="0" dirty="0" err="1"/>
              <a:t>vam</a:t>
            </a:r>
            <a:r>
              <a:rPr lang="en-US" b="0" dirty="0"/>
              <a:t> </a:t>
            </a:r>
            <a:r>
              <a:rPr lang="en-US" b="0" dirty="0" err="1"/>
              <a:t>najviše</a:t>
            </a:r>
            <a:r>
              <a:rPr lang="en-US" b="0" dirty="0"/>
              <a:t> </a:t>
            </a:r>
            <a:r>
              <a:rPr lang="en-US" b="0" dirty="0" err="1"/>
              <a:t>nedostajalo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zašto</a:t>
            </a:r>
            <a:r>
              <a:rPr lang="en-US" b="0" dirty="0"/>
              <a:t>?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b="0" dirty="0" err="1"/>
              <a:t>Mislite</a:t>
            </a:r>
            <a:r>
              <a:rPr lang="en-US" b="0" dirty="0"/>
              <a:t> li da </a:t>
            </a:r>
            <a:r>
              <a:rPr lang="en-US" b="0" dirty="0" err="1"/>
              <a:t>će</a:t>
            </a:r>
            <a:r>
              <a:rPr lang="en-US" b="0" dirty="0"/>
              <a:t> </a:t>
            </a:r>
            <a:r>
              <a:rPr lang="en-US" b="0" dirty="0" err="1"/>
              <a:t>umjetna</a:t>
            </a:r>
            <a:r>
              <a:rPr lang="en-US" b="0" dirty="0"/>
              <a:t> </a:t>
            </a:r>
            <a:r>
              <a:rPr lang="en-US" b="0" dirty="0" err="1"/>
              <a:t>inteligencija</a:t>
            </a:r>
            <a:r>
              <a:rPr lang="en-US" b="0" dirty="0"/>
              <a:t> </a:t>
            </a:r>
            <a:r>
              <a:rPr lang="en-US" b="0" dirty="0" err="1"/>
              <a:t>olakšati</a:t>
            </a:r>
            <a:r>
              <a:rPr lang="en-US" b="0" dirty="0"/>
              <a:t> </a:t>
            </a:r>
            <a:r>
              <a:rPr lang="en-US" b="0" dirty="0" err="1"/>
              <a:t>ili</a:t>
            </a:r>
            <a:r>
              <a:rPr lang="en-US" b="0" dirty="0"/>
              <a:t> </a:t>
            </a:r>
            <a:r>
              <a:rPr lang="en-US" b="0" dirty="0" err="1"/>
              <a:t>otežati</a:t>
            </a:r>
            <a:r>
              <a:rPr lang="en-US" b="0" dirty="0"/>
              <a:t> </a:t>
            </a:r>
            <a:r>
              <a:rPr lang="en-US" b="0" dirty="0" err="1"/>
              <a:t>ulazak</a:t>
            </a:r>
            <a:r>
              <a:rPr lang="en-US" b="0" dirty="0"/>
              <a:t> </a:t>
            </a:r>
            <a:r>
              <a:rPr lang="en-US" b="0" dirty="0" err="1"/>
              <a:t>novih</a:t>
            </a:r>
            <a:r>
              <a:rPr lang="en-US" b="0" dirty="0"/>
              <a:t> </a:t>
            </a:r>
            <a:r>
              <a:rPr lang="en-US" b="0" dirty="0" err="1"/>
              <a:t>digitalnih</a:t>
            </a:r>
            <a:r>
              <a:rPr lang="en-US" b="0" dirty="0"/>
              <a:t> </a:t>
            </a:r>
            <a:r>
              <a:rPr lang="en-US" b="0" dirty="0" err="1"/>
              <a:t>poduzetnika</a:t>
            </a:r>
            <a:r>
              <a:rPr lang="en-US" b="0" dirty="0"/>
              <a:t> </a:t>
            </a:r>
            <a:r>
              <a:rPr lang="en-US" b="0" dirty="0" err="1"/>
              <a:t>na</a:t>
            </a:r>
            <a:r>
              <a:rPr lang="en-US" b="0" dirty="0"/>
              <a:t> </a:t>
            </a:r>
            <a:r>
              <a:rPr lang="en-US" b="0" dirty="0" err="1"/>
              <a:t>tržište</a:t>
            </a:r>
            <a:r>
              <a:rPr lang="en-US" b="0" dirty="0"/>
              <a:t>?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79123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8E85-1AC5-1883-88AF-4E2ADB20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Aktivnost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D5702FE-2428-6A80-A5F7-01E5440C5985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3023003"/>
            <a:ext cx="3484500" cy="442648"/>
          </a:xfrm>
        </p:spPr>
        <p:txBody>
          <a:bodyPr/>
          <a:lstStyle/>
          <a:p>
            <a:pPr marL="152400" indent="0"/>
            <a:r>
              <a:rPr lang="en-US" sz="1600" dirty="0" err="1"/>
              <a:t>Podjela</a:t>
            </a:r>
            <a:r>
              <a:rPr lang="en-US" sz="1600" dirty="0"/>
              <a:t> u </a:t>
            </a:r>
            <a:r>
              <a:rPr lang="en-US" sz="1600" dirty="0" err="1"/>
              <a:t>timove</a:t>
            </a:r>
            <a:r>
              <a:rPr lang="en-US" sz="1600" dirty="0"/>
              <a:t>:</a:t>
            </a:r>
          </a:p>
          <a:p>
            <a:pPr marL="152400" indent="0"/>
            <a:endParaRPr lang="en-US" sz="1600" b="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b="0" dirty="0" err="1"/>
              <a:t>Svaki</a:t>
            </a:r>
            <a:r>
              <a:rPr lang="en-US" sz="1600" b="0" dirty="0"/>
              <a:t> </a:t>
            </a:r>
            <a:r>
              <a:rPr lang="en-US" sz="1600" b="0" dirty="0" err="1"/>
              <a:t>tim</a:t>
            </a:r>
            <a:r>
              <a:rPr lang="en-US" sz="1600" b="0" dirty="0"/>
              <a:t>: 4–5 </a:t>
            </a:r>
            <a:r>
              <a:rPr lang="en-US" sz="1600" b="0" dirty="0" err="1"/>
              <a:t>studenata</a:t>
            </a:r>
            <a:endParaRPr lang="en-US" sz="1600" b="0" dirty="0"/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600" b="0" dirty="0" err="1"/>
              <a:t>Vrijeme</a:t>
            </a:r>
            <a:r>
              <a:rPr lang="en-US" sz="1600" b="0" dirty="0"/>
              <a:t>: 10 </a:t>
            </a:r>
            <a:r>
              <a:rPr lang="en-US" sz="1600" b="0" dirty="0" err="1"/>
              <a:t>minuta</a:t>
            </a:r>
            <a:r>
              <a:rPr lang="en-US" sz="1600" b="0" dirty="0"/>
              <a:t> rada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64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C9BC-A729-3FF2-D69B-AEB725EB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A6D5-0D2C-0985-2FC5-D1000B99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 literature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605E8E0-929E-921F-26E3-99D7E195985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20000" y="3901994"/>
            <a:ext cx="7488752" cy="457200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Vuković, K., </a:t>
            </a:r>
            <a:r>
              <a:rPr lang="en-US" sz="1200" dirty="0" err="1"/>
              <a:t>Korent</a:t>
            </a:r>
            <a:r>
              <a:rPr lang="en-US" sz="1200" dirty="0"/>
              <a:t>, D., &amp; </a:t>
            </a:r>
            <a:r>
              <a:rPr lang="en-US" sz="1200" dirty="0" err="1"/>
              <a:t>Šmaguc</a:t>
            </a:r>
            <a:r>
              <a:rPr lang="en-US" sz="1200" dirty="0"/>
              <a:t>, T. (2024). </a:t>
            </a:r>
            <a:r>
              <a:rPr lang="en-US" sz="1200" i="1" dirty="0" err="1"/>
              <a:t>Poduzetničko</a:t>
            </a:r>
            <a:r>
              <a:rPr lang="en-US" sz="1200" i="1" dirty="0"/>
              <a:t> </a:t>
            </a:r>
            <a:r>
              <a:rPr lang="en-US" sz="1200" i="1" dirty="0" err="1"/>
              <a:t>društvo</a:t>
            </a:r>
            <a:r>
              <a:rPr lang="en-US" sz="1200" i="1" dirty="0"/>
              <a:t> u </a:t>
            </a:r>
            <a:r>
              <a:rPr lang="en-US" sz="1200" i="1" dirty="0" err="1"/>
              <a:t>europskom</a:t>
            </a:r>
            <a:r>
              <a:rPr lang="en-US" sz="1200" i="1" dirty="0"/>
              <a:t> </a:t>
            </a:r>
            <a:r>
              <a:rPr lang="en-US" sz="1200" i="1" dirty="0" err="1"/>
              <a:t>kontekstu</a:t>
            </a:r>
            <a:r>
              <a:rPr lang="en-US" sz="1200" dirty="0"/>
              <a:t>. </a:t>
            </a:r>
            <a:r>
              <a:rPr lang="en-US" sz="1200" dirty="0" err="1"/>
              <a:t>Varaždin</a:t>
            </a:r>
            <a:r>
              <a:rPr lang="en-US" sz="1200" dirty="0"/>
              <a:t>: FOI.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OECD. (2021). </a:t>
            </a:r>
            <a:r>
              <a:rPr lang="en-US" sz="1200" i="1" dirty="0"/>
              <a:t>The Digital Transformation of SMEs</a:t>
            </a:r>
            <a:r>
              <a:rPr lang="en-US" sz="1200" dirty="0"/>
              <a:t>. OECD Publishing.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Amazon. (n.d.). </a:t>
            </a:r>
            <a:r>
              <a:rPr lang="en-US" sz="1200" i="1" dirty="0"/>
              <a:t>About Amazon – What we do</a:t>
            </a:r>
            <a:r>
              <a:rPr lang="en-US" sz="1200" dirty="0"/>
              <a:t>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2"/>
              </a:rPr>
              <a:t>https://www.aboutamazon.com/what-we-do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About Amazon. (n.d.). </a:t>
            </a:r>
            <a:r>
              <a:rPr lang="en-US" sz="1200" i="1" dirty="0"/>
              <a:t>About us</a:t>
            </a:r>
            <a:r>
              <a:rPr lang="en-US" sz="1200" dirty="0"/>
              <a:t>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3"/>
              </a:rPr>
              <a:t>https://www.aboutamazon.com/about-us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 err="1"/>
              <a:t>Photomath</a:t>
            </a:r>
            <a:r>
              <a:rPr lang="en-US" sz="1200" dirty="0"/>
              <a:t>. (n.d.). </a:t>
            </a:r>
            <a:r>
              <a:rPr lang="en-US" sz="1200" i="1" dirty="0" err="1"/>
              <a:t>Photomath</a:t>
            </a:r>
            <a:r>
              <a:rPr lang="en-US" sz="1200" i="1" dirty="0"/>
              <a:t> 101 – Get Math with </a:t>
            </a:r>
            <a:r>
              <a:rPr lang="en-US" sz="1200" i="1" dirty="0" err="1"/>
              <a:t>Photomath</a:t>
            </a:r>
            <a:r>
              <a:rPr lang="en-US" sz="1200" dirty="0"/>
              <a:t>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4"/>
              </a:rPr>
              <a:t>https://photomath.com/articles/photomath-101-get-math-with-photomath/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Rimac Automobili. (n.d.). </a:t>
            </a:r>
            <a:r>
              <a:rPr lang="en-US" sz="1200" i="1" dirty="0"/>
              <a:t>About us</a:t>
            </a:r>
            <a:r>
              <a:rPr lang="en-US" sz="1200" dirty="0"/>
              <a:t>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5"/>
              </a:rPr>
              <a:t>https://www.rimac-automobili.com/about-us/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Infobip. (n.d.). </a:t>
            </a:r>
            <a:r>
              <a:rPr lang="en-US" sz="1200" i="1" dirty="0"/>
              <a:t>Company overview</a:t>
            </a:r>
            <a:r>
              <a:rPr lang="en-US" sz="1200" dirty="0"/>
              <a:t>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6"/>
              </a:rPr>
              <a:t>https://www.infobip.com/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Spotify. (n.d.). </a:t>
            </a:r>
            <a:r>
              <a:rPr lang="en-US" sz="1200" i="1" dirty="0"/>
              <a:t>Company info</a:t>
            </a:r>
            <a:r>
              <a:rPr lang="en-US" sz="1200" dirty="0"/>
              <a:t>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7"/>
              </a:rPr>
              <a:t>https://newsroom.spotify.com/company-info/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Airbnb. (n.d.). </a:t>
            </a:r>
            <a:r>
              <a:rPr lang="en-US" sz="1200" i="1" dirty="0"/>
              <a:t>Help Center – Article 2503</a:t>
            </a:r>
            <a:r>
              <a:rPr lang="en-US" sz="1200" dirty="0"/>
              <a:t>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8"/>
              </a:rPr>
              <a:t>http://hr.airbnb.com/help/article/2503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Differences Between Traditional and Digital Entrepreneurship [</a:t>
            </a:r>
            <a:r>
              <a:rPr lang="en-US" sz="1200" dirty="0" err="1"/>
              <a:t>Tablica</a:t>
            </a:r>
            <a:r>
              <a:rPr lang="en-US" sz="1200" dirty="0"/>
              <a:t>]. (n.d.). ResearchGate. </a:t>
            </a:r>
            <a:r>
              <a:rPr lang="en-US" sz="1200" dirty="0" err="1"/>
              <a:t>Preuzeto</a:t>
            </a:r>
            <a:r>
              <a:rPr lang="en-US" sz="1200" dirty="0"/>
              <a:t> 1. </a:t>
            </a:r>
            <a:r>
              <a:rPr lang="en-US" sz="1200" dirty="0" err="1"/>
              <a:t>prosinca</a:t>
            </a:r>
            <a:r>
              <a:rPr lang="en-US" sz="1200" dirty="0"/>
              <a:t> 2025. s </a:t>
            </a:r>
            <a:r>
              <a:rPr lang="en-US" sz="1200" u="sng" dirty="0">
                <a:hlinkClick r:id="rId9"/>
              </a:rPr>
              <a:t>https://www.researchgate.net/figure/Differences-Between-Traditional-and-Digital-Entrepreneurship_tbl1_342422897</a:t>
            </a:r>
            <a:endParaRPr lang="en-US" sz="12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1200" dirty="0"/>
              <a:t>Byers, T. H., Dorf, R. C., &amp; Nelson, A. J. (2015). </a:t>
            </a:r>
            <a:r>
              <a:rPr lang="en-US" sz="1200" i="1" dirty="0" err="1"/>
              <a:t>Tehnološko</a:t>
            </a:r>
            <a:r>
              <a:rPr lang="en-US" sz="1200" i="1" dirty="0"/>
              <a:t> </a:t>
            </a:r>
            <a:r>
              <a:rPr lang="en-US" sz="1200" i="1" dirty="0" err="1"/>
              <a:t>poduzetništvo</a:t>
            </a:r>
            <a:r>
              <a:rPr lang="en-US" sz="1200" i="1" dirty="0"/>
              <a:t>: od </a:t>
            </a:r>
            <a:r>
              <a:rPr lang="en-US" sz="1200" i="1" dirty="0" err="1"/>
              <a:t>ideje</a:t>
            </a:r>
            <a:r>
              <a:rPr lang="en-US" sz="1200" i="1" dirty="0"/>
              <a:t> do </a:t>
            </a:r>
            <a:r>
              <a:rPr lang="en-US" sz="1200" i="1" dirty="0" err="1"/>
              <a:t>tvrtke</a:t>
            </a:r>
            <a:r>
              <a:rPr lang="en-US" sz="1200" dirty="0"/>
              <a:t> (V. Senci, V. Nenadić, &amp; F. Tomašević, </a:t>
            </a:r>
            <a:r>
              <a:rPr lang="en-US" sz="1200" dirty="0" err="1"/>
              <a:t>Prijevod</a:t>
            </a:r>
            <a:r>
              <a:rPr lang="en-US" sz="1200" dirty="0"/>
              <a:t>). </a:t>
            </a:r>
            <a:r>
              <a:rPr lang="en-US" sz="1200" dirty="0" err="1"/>
              <a:t>Tehničko</a:t>
            </a:r>
            <a:r>
              <a:rPr lang="en-US" sz="1200" dirty="0"/>
              <a:t> </a:t>
            </a:r>
            <a:r>
              <a:rPr lang="en-US" sz="1200" dirty="0" err="1"/>
              <a:t>veleučilište</a:t>
            </a:r>
            <a:r>
              <a:rPr lang="en-US" sz="1200" dirty="0"/>
              <a:t> Zagreb.</a:t>
            </a:r>
          </a:p>
        </p:txBody>
      </p:sp>
    </p:spTree>
    <p:extLst>
      <p:ext uri="{BB962C8B-B14F-4D97-AF65-F5344CB8AC3E}">
        <p14:creationId xmlns:p14="http://schemas.microsoft.com/office/powerpoint/2010/main" val="3616172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6656-8AC6-6BBD-F74B-6B43DBE22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pažnji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37540609"/>
      </p:ext>
    </p:extLst>
  </p:cSld>
  <p:clrMapOvr>
    <a:masterClrMapping/>
  </p:clrMapOvr>
</p:sld>
</file>

<file path=ppt/theme/theme1.xml><?xml version="1.0" encoding="utf-8"?>
<a:theme xmlns:a="http://schemas.openxmlformats.org/drawingml/2006/main" name="Digital Transformation Plan Project Proposal by Slidesgo">
  <a:themeElements>
    <a:clrScheme name="Simple Light">
      <a:dk1>
        <a:srgbClr val="1C285A"/>
      </a:dk1>
      <a:lt1>
        <a:srgbClr val="FFFFFF"/>
      </a:lt1>
      <a:dk2>
        <a:srgbClr val="6574CA"/>
      </a:dk2>
      <a:lt2>
        <a:srgbClr val="65B2F5"/>
      </a:lt2>
      <a:accent1>
        <a:srgbClr val="94EAF8"/>
      </a:accent1>
      <a:accent2>
        <a:srgbClr val="D98AE9"/>
      </a:accent2>
      <a:accent3>
        <a:srgbClr val="EDE9F8"/>
      </a:accent3>
      <a:accent4>
        <a:srgbClr val="FFFFFF"/>
      </a:accent4>
      <a:accent5>
        <a:srgbClr val="FFFFFF"/>
      </a:accent5>
      <a:accent6>
        <a:srgbClr val="FFFFFF"/>
      </a:accent6>
      <a:hlink>
        <a:srgbClr val="1C28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765</Words>
  <Application>Microsoft Macintosh PowerPoint</Application>
  <PresentationFormat>On-screen Show (16:9)</PresentationFormat>
  <Paragraphs>129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Blinker</vt:lpstr>
      <vt:lpstr>Arial</vt:lpstr>
      <vt:lpstr>Anaheim</vt:lpstr>
      <vt:lpstr>Raleway</vt:lpstr>
      <vt:lpstr>Digital Transformation Plan Project Proposal by Slidesgo</vt:lpstr>
      <vt:lpstr>Digitalno poduzetništvo: pojam, specifičnosti i primjeri iz Hrvatske i svijeta</vt:lpstr>
      <vt:lpstr>Sadržaj</vt:lpstr>
      <vt:lpstr>Pojam digitalnog poduzetništva</vt:lpstr>
      <vt:lpstr>Razlike tradicionalni vs. digitalni poduzetnici</vt:lpstr>
      <vt:lpstr>Karakteristike Digitalnog Poduzetnika </vt:lpstr>
      <vt:lpstr>Infobip </vt:lpstr>
      <vt:lpstr>Rimac Automobili</vt:lpstr>
      <vt:lpstr>Photomath</vt:lpstr>
      <vt:lpstr>Amazon</vt:lpstr>
      <vt:lpstr>Spotify</vt:lpstr>
      <vt:lpstr>Airbnb</vt:lpstr>
      <vt:lpstr>Čimbenici uspjeha</vt:lpstr>
      <vt:lpstr>Zaključak</vt:lpstr>
      <vt:lpstr>Pitanja za raspravu</vt:lpstr>
      <vt:lpstr>Aktivnost</vt:lpstr>
      <vt:lpstr>Popis literature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Lucijan Raspović</cp:lastModifiedBy>
  <cp:revision>7</cp:revision>
  <dcterms:modified xsi:type="dcterms:W3CDTF">2025-12-02T09:17:36Z</dcterms:modified>
</cp:coreProperties>
</file>